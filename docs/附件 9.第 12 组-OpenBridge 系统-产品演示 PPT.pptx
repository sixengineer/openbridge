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 showGuide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2.png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3.png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image" Target="../media/image4.png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jimeng-2025-10-29-6635-科技感商务 PPT 封面，上下构图，以深蓝色星空背景为基底，下方搭配发光的蓝紫色...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标题 1"/>
          <p:cNvSpPr txBox="1"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1021080" y="1595438"/>
            <a:ext cx="5219700" cy="1522571"/>
          </a:xfrm>
          <a:noFill/>
        </p:spPr>
        <p:txBody>
          <a:bodyPr wrap="square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4500" b="1" i="0" u="none" strike="noStrike" kern="1200" cap="none" spc="0" normalizeH="0" baseline="0" noProof="1">
                <a:solidFill>
                  <a:srgbClr val="FFFFFF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</a:t>
            </a:r>
            <a:br>
              <a:rPr>
                <a:sym typeface="+mn-ea"/>
              </a:rPr>
            </a:br>
            <a:r>
              <a:rPr>
                <a:sym typeface="+mn-ea"/>
              </a:rPr>
              <a:t>编辑母版标题样式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1021080" y="1196340"/>
            <a:ext cx="1804035" cy="296704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75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 kumimoji="0" lang="en-US" altLang="zh-CN" sz="1350" b="1" i="0" u="none" strike="noStrike" kern="1200" cap="none" spc="0" normalizeH="0" baseline="0" noProof="1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1435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日期时间</a:t>
            </a:r>
            <a:endParaRPr>
              <a:sym typeface="+mn-ea"/>
            </a:endParaRP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1042511" y="3332321"/>
            <a:ext cx="1775936" cy="309563"/>
          </a:xfrm>
          <a:prstGeom prst="roundRect">
            <a:avLst>
              <a:gd name="adj" fmla="val 50000"/>
            </a:avLst>
          </a:prstGeom>
          <a:solidFill>
            <a:schemeClr val="lt1">
              <a:lumMod val="100000"/>
            </a:schemeClr>
          </a:solidFill>
        </p:spPr>
        <p:txBody>
          <a:bodyPr vert="horz" wrap="square" lIns="0" tIns="0" rIns="0" bIns="0" rtlCol="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750"/>
              </a:spcBef>
              <a:buClrTx/>
              <a:buSzTx/>
              <a:buFont typeface="Arial" panose="020B0604020202020204" pitchFamily="34" charset="0"/>
              <a:buNone/>
              <a:defRPr kumimoji="0" lang="zh-CN" altLang="en-US" sz="1200" b="1" i="0" u="none" strike="noStrike" kern="1200" cap="none" spc="0" normalizeH="0" baseline="0" noProof="1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署名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制作科技感 PPT 封面 (15)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3697844" y="223361"/>
            <a:ext cx="1748314" cy="1064419"/>
          </a:xfrm>
        </p:spPr>
        <p:txBody>
          <a:bodyPr vert="horz" wrap="square" lIns="90170" tIns="46990" rIns="90170" bIns="4699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4500" b="1" i="0" u="none" strike="noStrike" kern="1200" cap="none" spc="500" normalizeH="0" baseline="0" noProof="1" dirty="0">
                <a:solidFill>
                  <a:srgbClr val="FFFFFF"/>
                </a:solidFill>
                <a:uFillTx/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标题</a:t>
            </a:r>
            <a:endParaRPr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制作科技感 PPT 封面 (15)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195036" y="2445544"/>
            <a:ext cx="4755356" cy="1648301"/>
          </a:xfrm>
        </p:spPr>
        <p:txBody>
          <a:bodyPr vert="horz" wrap="square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4500" b="1" i="0" u="none" strike="noStrike" kern="1200" cap="none" spc="300" normalizeH="0" baseline="0" noProof="1">
                <a:solidFill>
                  <a:srgbClr val="FFFFFF"/>
                </a:solidFill>
                <a:uFillTx/>
                <a:latin typeface="+mj-ea"/>
                <a:ea typeface="+mj-ea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8" name="节编号 3"/>
          <p:cNvSpPr txBox="1"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2195989" y="1151096"/>
            <a:ext cx="4753451" cy="918210"/>
          </a:xfrm>
          <a:noFill/>
          <a:effectLst/>
        </p:spPr>
        <p:txBody>
          <a:bodyPr vert="horz" wrap="none" lIns="0" tIns="0" rIns="0" bIns="0" rtlCol="0" anchor="b" anchorCtr="0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buClrTx/>
              <a:buSzTx/>
              <a:buFontTx/>
              <a:buNone/>
              <a:defRPr kumimoji="0" lang="zh-CN" altLang="en-US" sz="4050" b="1" i="0" u="none" strike="noStrike" kern="1200" cap="none" spc="0" normalizeH="0" baseline="0" noProof="1">
                <a:solidFill>
                  <a:schemeClr val="accent3">
                    <a:lumMod val="40000"/>
                    <a:lumOff val="60000"/>
                  </a:schemeClr>
                </a:solidFill>
                <a:latin typeface="+mj-ea"/>
                <a:ea typeface="+mj-ea"/>
                <a:cs typeface="+mj-ea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节编号</a:t>
            </a:r>
            <a:endParaRPr>
              <a:sym typeface="+mn-ea"/>
            </a:endParaRPr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21970" y="976313"/>
            <a:ext cx="3992880" cy="3656888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9150" y="976313"/>
            <a:ext cx="3992880" cy="3656888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21970" y="97631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21970" y="1406324"/>
            <a:ext cx="3992880" cy="3225207"/>
          </a:xfrm>
        </p:spPr>
        <p:txBody>
          <a:bodyPr wrap="square">
            <a:normAutofit/>
          </a:bodyPr>
          <a:lstStyle>
            <a:lvl1pPr>
              <a:defRPr sz="165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29150" y="97631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29150" y="1406324"/>
            <a:ext cx="3992880" cy="3225207"/>
          </a:xfrm>
        </p:spPr>
        <p:txBody>
          <a:bodyPr wrap="square">
            <a:normAutofit/>
          </a:bodyPr>
          <a:lstStyle>
            <a:lvl1pPr>
              <a:defRPr sz="165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1970" y="270034"/>
            <a:ext cx="8101489" cy="4363403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21970" y="976313"/>
            <a:ext cx="8099316" cy="304165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制作科技感 PPT 封面 (15)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标题 1"/>
          <p:cNvSpPr txBox="1"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2278856" y="53340"/>
            <a:ext cx="4586288" cy="1768316"/>
          </a:xfr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500" b="1" i="0" u="none" strike="noStrike" kern="1200" cap="none" spc="0" normalizeH="0" baseline="0" noProof="1">
                <a:solidFill>
                  <a:srgbClr val="FFFFFF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2982278" y="1926908"/>
            <a:ext cx="3179445" cy="729139"/>
          </a:xfrm>
        </p:spPr>
        <p:txBody>
          <a:bodyPr vert="horz" wrap="square" lIns="90000" tIns="46800" rIns="90000" bIns="46800" rtlCol="0">
            <a:normAutofit/>
            <a:scene3d>
              <a:camera prst="orthographicFront"/>
              <a:lightRig rig="threePt" dir="t"/>
            </a:scene3d>
          </a:bodyPr>
          <a:lstStyle>
            <a:lvl1pPr marL="0" marR="0" indent="-17145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 kumimoji="0" lang="en-US" altLang="zh-CN" sz="1800" b="1" i="0" u="none" strike="noStrike" kern="1200" cap="none" spc="0" normalizeH="0" baseline="0" noProof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image" Target="../media/image2.png"/><Relationship Id="rId12" Type="http://schemas.openxmlformats.org/officeDocument/2006/relationships/tags" Target="../tags/tag6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 panose="020B0604020202020204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 panose="020B0604020202020204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 panose="020B0604020202020204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制作科技感 PPT 封面 (15)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alphaModFix amt="2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521970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6565487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135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9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image" Target="../media/image5.png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9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image" Target="../media/image6.png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9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image" Target="../media/image7.png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image" Target="../media/image8.png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9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image" Target="../media/image9.png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1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buNone/>
            </a:pPr>
            <a:r>
              <a:rPr>
                <a:solidFill>
                  <a:schemeClr val="tx1"/>
                </a:solidFill>
              </a:rPr>
              <a:t>OpenBridge：面向 OpenList 的下载与挂载控制台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Text Placeholder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3000"/>
              </a:spcBef>
              <a:buNone/>
            </a:pPr>
            <a:r>
              <a:rPr b="1">
                <a:solidFill>
                  <a:schemeClr val="tx1"/>
                </a:solidFill>
              </a:rPr>
              <a:t>为什么做这个产品</a:t>
            </a:r>
            <a:endParaRPr b="1"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OpenList 能统一管理网盘文件，但“真正用起来”的最后一公里仍然分散：下载、挂载、容量展示、跨设备直链都要分别折腾。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手机端直链经常拿到 127.0.0.1 或 OpenList 代理地址，离开服务端电脑就不可用。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rclone 命令配置复杂，多个 Mount 聚合、停挂、清理旧配置对普通用户不友好。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Provider 容量、Mount 虚拟配额、aria2 下载任务、主机资源缺少一个统一控制台。</a:t>
            </a:r>
            <a:endParaRPr>
              <a:solidFill>
                <a:schemeClr val="tx1"/>
              </a:solidFill>
            </a:endParaRPr>
          </a:p>
          <a:p>
            <a:pPr marL="0" lvl="0" indent="0">
              <a:spcBef>
                <a:spcPts val="3000"/>
              </a:spcBef>
              <a:buNone/>
            </a:pPr>
            <a:r>
              <a:rPr b="1">
                <a:solidFill>
                  <a:schemeClr val="tx1"/>
                </a:solidFill>
              </a:rPr>
              <a:t>我们的目标</a:t>
            </a:r>
            <a:endParaRPr b="1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>
                <a:solidFill>
                  <a:schemeClr val="tx1"/>
                </a:solidFill>
              </a:rPr>
              <a:t>把 OpenList 从“文件入口”补成“可演示、可管理、可多设备使用”的本地网盘工作台。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5" name="Picture 1" descr="docs/screenshots/user_manual/09-dashboard-overview.png"/>
          <p:cNvPicPr>
            <a:picLocks noGrp="1"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 bwMode="auto">
          <a:xfrm>
            <a:off x="3568700" y="901700"/>
            <a:ext cx="5105400" cy="2463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3"/>
          <p:cNvSpPr txBox="1"/>
          <p:nvPr>
            <p:custDataLst>
              <p:tags r:id="rId5"/>
            </p:custDataLst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</a:pPr>
            <a:r>
              <a:rPr>
                <a:solidFill>
                  <a:schemeClr val="tx1"/>
                </a:solidFill>
              </a:rPr>
              <a:t>仪表盘总览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1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buNone/>
            </a:pPr>
            <a:r>
              <a:rPr>
                <a:solidFill>
                  <a:schemeClr val="tx1"/>
                </a:solidFill>
              </a:rPr>
              <a:t>功能概览：按角色看系统能做什么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Text Placeholder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3000"/>
              </a:spcBef>
              <a:buNone/>
            </a:pPr>
            <a:r>
              <a:rPr b="1">
                <a:solidFill>
                  <a:schemeClr val="tx1"/>
                </a:solidFill>
              </a:rPr>
              <a:t>普通用户</a:t>
            </a:r>
            <a:endParaRPr b="1"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登录后进入仪表盘，查看服务状态、主机资源、存储总量和带宽。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浏览当前 OpenList 用户根目录，支持排序、面包屑跳转、大目录完整加载。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单文件下载：当前设备下载、复制直链、二维码转移、提交到服务端 aria2。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文件夹下载：ZIP 打包下载，或对百度文件夹批量解析直链清单。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查看下载任务：筛选、排序、查看详情、复制直链、重试失败任务。</a:t>
            </a:r>
            <a:endParaRPr>
              <a:solidFill>
                <a:schemeClr val="tx1"/>
              </a:solidFill>
            </a:endParaRPr>
          </a:p>
          <a:p>
            <a:pPr marL="0" lvl="0" indent="0">
              <a:spcBef>
                <a:spcPts val="3000"/>
              </a:spcBef>
              <a:buNone/>
            </a:pPr>
            <a:r>
              <a:rPr b="1">
                <a:solidFill>
                  <a:schemeClr val="tx1"/>
                </a:solidFill>
              </a:rPr>
              <a:t>管理员</a:t>
            </a:r>
            <a:endParaRPr b="1"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注册/编辑/删除 Provider：通用、百度、夸克、本地存储。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创建/编辑/删除 Mount，支持真实配额和虚拟配额。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配置 rclone：普通、union、combine，写入配置、挂载、停止挂载、删除配置。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配置 OpenList、aria2、rclone、本地路径选择、FILETREE 缓存、重启/退出服务。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5" name="Picture 1" descr="docs/screenshots/user_manual/15-openlist-browser.png"/>
          <p:cNvPicPr>
            <a:picLocks noGrp="1"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 bwMode="auto">
          <a:xfrm>
            <a:off x="3568700" y="800100"/>
            <a:ext cx="5105400" cy="2667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3"/>
          <p:cNvSpPr txBox="1"/>
          <p:nvPr>
            <p:custDataLst>
              <p:tags r:id="rId5"/>
            </p:custDataLst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</a:pPr>
            <a:r>
              <a:rPr>
                <a:solidFill>
                  <a:schemeClr val="tx1"/>
                </a:solidFill>
              </a:rPr>
              <a:t>OpenList 文件浏览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1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buNone/>
            </a:pPr>
            <a:r>
              <a:rPr>
                <a:solidFill>
                  <a:schemeClr val="tx1"/>
                </a:solidFill>
              </a:rPr>
              <a:t>技术栈与系统架构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Text Placeholder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3000"/>
              </a:spcBef>
              <a:buNone/>
            </a:pPr>
            <a:r>
              <a:rPr sz="1000" b="1">
                <a:solidFill>
                  <a:schemeClr val="tx1"/>
                </a:solidFill>
              </a:rPr>
              <a:t>前端</a:t>
            </a:r>
            <a:endParaRPr sz="1000" b="1">
              <a:solidFill>
                <a:schemeClr val="tx1"/>
              </a:solidFill>
            </a:endParaRPr>
          </a:p>
          <a:p>
            <a:pPr lvl="0"/>
            <a:r>
              <a:rPr sz="1000">
                <a:solidFill>
                  <a:schemeClr val="tx1"/>
                </a:solidFill>
              </a:rPr>
              <a:t>Vue 3 + TypeScript + Vite：组件化页面、类型约束、生产构建快。</a:t>
            </a:r>
            <a:endParaRPr sz="1000">
              <a:solidFill>
                <a:schemeClr val="tx1"/>
              </a:solidFill>
            </a:endParaRPr>
          </a:p>
          <a:p>
            <a:pPr lvl="0"/>
            <a:r>
              <a:rPr sz="1000">
                <a:solidFill>
                  <a:schemeClr val="tx1"/>
                </a:solidFill>
              </a:rPr>
              <a:t>Pinia：集中管理登录态、Provider、Mount、任务 ID、用户角色和本地偏好。</a:t>
            </a:r>
            <a:endParaRPr sz="1000">
              <a:solidFill>
                <a:schemeClr val="tx1"/>
              </a:solidFill>
            </a:endParaRPr>
          </a:p>
          <a:p>
            <a:pPr lvl="0"/>
            <a:r>
              <a:rPr sz="1000">
                <a:solidFill>
                  <a:schemeClr val="tx1"/>
                </a:solidFill>
              </a:rPr>
              <a:t>Vue Router：管理员与普通用户页面权限隔离。</a:t>
            </a:r>
            <a:endParaRPr sz="1000">
              <a:solidFill>
                <a:schemeClr val="tx1"/>
              </a:solidFill>
            </a:endParaRPr>
          </a:p>
          <a:p>
            <a:pPr lvl="0"/>
            <a:r>
              <a:rPr sz="1000">
                <a:solidFill>
                  <a:schemeClr val="tx1"/>
                </a:solidFill>
              </a:rPr>
              <a:t>Axios：统一携带设备 ID，下载/大目录场景支持无限超时。</a:t>
            </a:r>
            <a:endParaRPr sz="1000">
              <a:solidFill>
                <a:schemeClr val="tx1"/>
              </a:solidFill>
            </a:endParaRPr>
          </a:p>
          <a:p>
            <a:pPr lvl="0"/>
            <a:r>
              <a:rPr sz="1000" b="1">
                <a:solidFill>
                  <a:schemeClr val="tx1"/>
                </a:solidFill>
              </a:rPr>
              <a:t>后端</a:t>
            </a:r>
            <a:endParaRPr sz="1000" b="1">
              <a:solidFill>
                <a:schemeClr val="tx1"/>
              </a:solidFill>
            </a:endParaRPr>
          </a:p>
          <a:p>
            <a:pPr lvl="0"/>
            <a:r>
              <a:rPr sz="1000">
                <a:solidFill>
                  <a:schemeClr val="tx1"/>
                </a:solidFill>
              </a:rPr>
              <a:t>Go + Gin：轻量 HTTP API、静态前端内嵌、WebDAV 代理。</a:t>
            </a:r>
            <a:endParaRPr sz="1000">
              <a:solidFill>
                <a:schemeClr val="tx1"/>
              </a:solidFill>
            </a:endParaRPr>
          </a:p>
          <a:p>
            <a:pPr lvl="0"/>
            <a:r>
              <a:rPr sz="1000">
                <a:solidFill>
                  <a:schemeClr val="tx1"/>
                </a:solidFill>
              </a:rPr>
              <a:t>GORM + SQLite：本地化部署，保存 Provider、Mount、任务、rclone 配置。</a:t>
            </a:r>
            <a:endParaRPr sz="1000">
              <a:solidFill>
                <a:schemeClr val="tx1"/>
              </a:solidFill>
            </a:endParaRPr>
          </a:p>
          <a:p>
            <a:pPr lvl="0"/>
            <a:r>
              <a:rPr sz="1000">
                <a:solidFill>
                  <a:schemeClr val="tx1"/>
                </a:solidFill>
              </a:rPr>
              <a:t>OpenList API/WebDAV：复用 OpenList 文件能力和用户权限。</a:t>
            </a:r>
            <a:endParaRPr sz="1000">
              <a:solidFill>
                <a:schemeClr val="tx1"/>
              </a:solidFill>
            </a:endParaRPr>
          </a:p>
          <a:p>
            <a:pPr lvl="0"/>
            <a:r>
              <a:rPr sz="1000">
                <a:solidFill>
                  <a:schemeClr val="tx1"/>
                </a:solidFill>
              </a:rPr>
              <a:t>aria2 JSON-RPC：服务端电脑执行下载。</a:t>
            </a:r>
            <a:endParaRPr sz="1000">
              <a:solidFill>
                <a:schemeClr val="tx1"/>
              </a:solidFill>
            </a:endParaRPr>
          </a:p>
          <a:p>
            <a:pPr lvl="0"/>
            <a:r>
              <a:rPr sz="1000">
                <a:solidFill>
                  <a:schemeClr val="tx1"/>
                </a:solidFill>
              </a:rPr>
              <a:t>rclone CLI：自动写配置、挂载、停挂、清理。</a:t>
            </a:r>
            <a:endParaRPr sz="1000">
              <a:solidFill>
                <a:schemeClr val="tx1"/>
              </a:solidFill>
            </a:endParaRPr>
          </a:p>
          <a:p>
            <a:pPr lvl="0"/>
            <a:r>
              <a:rPr sz="1000" b="1">
                <a:solidFill>
                  <a:schemeClr val="tx1"/>
                </a:solidFill>
              </a:rPr>
              <a:t>架构流向</a:t>
            </a:r>
            <a:endParaRPr sz="1000" b="1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sz="1000">
                <a:solidFill>
                  <a:schemeClr val="tx1"/>
                </a:solidFill>
              </a:rPr>
              <a:t>浏览器/手机 → OpenBridge 前端 → Go API → OpenList / aria2 / rclone / 本地系统</a:t>
            </a:r>
            <a:endParaRPr sz="1000">
              <a:solidFill>
                <a:schemeClr val="tx1"/>
              </a:solidFill>
            </a:endParaRPr>
          </a:p>
        </p:txBody>
      </p:sp>
      <p:pic>
        <p:nvPicPr>
          <p:cNvPr id="5" name="Picture 1" descr="docs/screenshots/user_manual/19-download-dialog.png"/>
          <p:cNvPicPr>
            <a:picLocks noGrp="1"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 bwMode="auto">
          <a:xfrm>
            <a:off x="4216400" y="203200"/>
            <a:ext cx="3822700" cy="387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3"/>
          <p:cNvSpPr txBox="1"/>
          <p:nvPr>
            <p:custDataLst>
              <p:tags r:id="rId5"/>
            </p:custDataLst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</a:pPr>
            <a:r>
              <a:rPr>
                <a:solidFill>
                  <a:schemeClr val="tx1"/>
                </a:solidFill>
              </a:rPr>
              <a:t>下载确认弹窗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1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Text Placeholder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1" y="686436"/>
            <a:ext cx="3008313" cy="3518297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10000"/>
          </a:bodyPr>
          <a:lstStyle>
            <a:lvl1pPr marL="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3000"/>
              </a:spcBef>
              <a:buNone/>
            </a:pPr>
            <a:r>
              <a:rPr b="1">
                <a:solidFill>
                  <a:schemeClr val="tx1"/>
                </a:solidFill>
              </a:rPr>
              <a:t>亮点</a:t>
            </a:r>
            <a:endParaRPr b="1"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多设备会话：设备 ID 绑定登录态，普通账号默认最多 5 台设备在线。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用户根目录隔离：不同 OpenList 用户看到的 / 对应各自可见根目录。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终端直下：百度等非 OpenList 代理直链可复制、二维码转移、当前设备直下。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WebDAV Mount：文件能力复用 OpenList，容量展示改写为 Mount 层配额。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rclone 管理闭环：从配置、写入、挂载到停挂/删除，全流程前端化。</a:t>
            </a:r>
            <a:endParaRPr>
              <a:solidFill>
                <a:schemeClr val="tx1"/>
              </a:solidFill>
            </a:endParaRPr>
          </a:p>
          <a:p>
            <a:pPr marL="0" lvl="0" indent="0">
              <a:spcBef>
                <a:spcPts val="3000"/>
              </a:spcBef>
              <a:buNone/>
            </a:pPr>
            <a:r>
              <a:rPr b="1">
                <a:solidFill>
                  <a:schemeClr val="tx1"/>
                </a:solidFill>
              </a:rPr>
              <a:t>难点</a:t>
            </a:r>
            <a:endParaRPr b="1"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大文件夹扫描与下载不能被 30 秒超时打断，需要前后端下载链路无限超时。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FILETREE 缓存要加速文件树，但不能阻塞正常文件浏览。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OpenList 换源后 Provider、Mount、rclone 配置必须按端口/源隔离。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Windows 下打开文件夹、中文文件名、特殊符号路径要避免 shell 转义坑。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WebDAV PROPFIND 响应要改写 href、quota-used-bytes、quota-available-bytes。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5" name="Picture 1" descr="docs/screenshots/user_manual/54-rclone-card.png"/>
          <p:cNvPicPr>
            <a:picLocks noGrp="1"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 bwMode="auto">
          <a:xfrm>
            <a:off x="5422900" y="203200"/>
            <a:ext cx="1397000" cy="387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3"/>
          <p:cNvSpPr txBox="1"/>
          <p:nvPr>
            <p:custDataLst>
              <p:tags r:id="rId5"/>
            </p:custDataLst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</a:pPr>
            <a:r>
              <a:rPr>
                <a:solidFill>
                  <a:schemeClr val="tx1"/>
                </a:solidFill>
              </a:rPr>
              <a:t>Rclone 配置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亮点与技术难点</a:t>
            </a:r>
            <a:endParaRPr lang="zh-CN" altLang="en-US" dirty="0"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1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buNone/>
            </a:pPr>
            <a:r>
              <a:rPr>
                <a:solidFill>
                  <a:schemeClr val="tx1"/>
                </a:solidFill>
              </a:rPr>
              <a:t>软件规模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Text Placeholder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342900" rtl="0" eaLnBrk="1" latinLnBrk="0" hangingPunct="1">
              <a:spcBef>
                <a:spcPct val="20000"/>
              </a:spcBef>
              <a:buFont typeface="Arial" panose="020B0604020202020204"/>
              <a:buNone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3000"/>
              </a:spcBef>
              <a:buNone/>
            </a:pPr>
            <a:r>
              <a:rPr b="1">
                <a:solidFill>
                  <a:schemeClr val="tx1"/>
                </a:solidFill>
              </a:rPr>
              <a:t>软件规模</a:t>
            </a:r>
            <a:endParaRPr b="1"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功能用例总数：42 个，按用户故事合并统计。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代码源文件总数：117 个，统计后端 Go + 前端 Vue/TS/CSS/HTML/JSON。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代码总行数：21459 行，排除 node_modules、dist、截图和文档。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后端 API/路由：49 个。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前端路由：11 个。</a:t>
            </a:r>
            <a:endParaRPr>
              <a:solidFill>
                <a:schemeClr val="tx1"/>
              </a:solidFill>
            </a:endParaRPr>
          </a:p>
          <a:p>
            <a:pPr marL="0" lvl="0" indent="0">
              <a:spcBef>
                <a:spcPts val="3000"/>
              </a:spcBef>
              <a:buNone/>
            </a:pPr>
            <a:r>
              <a:rPr b="1">
                <a:solidFill>
                  <a:schemeClr val="tx1"/>
                </a:solidFill>
              </a:rPr>
              <a:t>规模背后的模块</a:t>
            </a:r>
            <a:endParaRPr b="1"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前端页面：仪表盘、OpenList、服务商、下载任务、配额、Rclone、设置、Debug。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后端用例层：用户、Provider、Mount、Storage、Download、Rclone、Settings、System。</a:t>
            </a:r>
            <a:endParaRPr>
              <a:solidFill>
                <a:schemeClr val="tx1"/>
              </a:solidFill>
            </a:endParaRPr>
          </a:p>
          <a:p>
            <a:pPr lvl="0"/>
            <a:r>
              <a:rPr>
                <a:solidFill>
                  <a:schemeClr val="tx1"/>
                </a:solidFill>
              </a:rPr>
              <a:t>外部集成：OpenList、aria2、rclone、WebDAV、本地文件选择和主机指标。</a:t>
            </a:r>
            <a:endParaRPr>
              <a:solidFill>
                <a:schemeClr val="tx1"/>
              </a:solidFill>
            </a:endParaRPr>
          </a:p>
          <a:p>
            <a:pPr marL="0" lvl="0" indent="0">
              <a:spcBef>
                <a:spcPts val="3000"/>
              </a:spcBef>
              <a:buNone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5" name="Picture 1" descr="docs/screenshots/user_manual/26-tasks-overview.png"/>
          <p:cNvPicPr>
            <a:picLocks noGrp="1"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 bwMode="auto">
          <a:xfrm>
            <a:off x="3568700" y="762000"/>
            <a:ext cx="5105400" cy="2743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3"/>
          <p:cNvSpPr txBox="1"/>
          <p:nvPr>
            <p:custDataLst>
              <p:tags r:id="rId5"/>
            </p:custDataLst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</a:pPr>
            <a:r>
              <a:rPr>
                <a:solidFill>
                  <a:schemeClr val="tx1"/>
                </a:solidFill>
              </a:rPr>
              <a:t>下载任务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TEXT_LAYER_COUNT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TEXT_LAYER_COUNT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TEXT_LAYER_COUNT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TEXT_LAYER_COUNT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8919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40498919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40498919"/>
  <p:tag name="KSO_WM_TEMPLATE_THUMBS_INDEX" val="1、9"/>
</p:tagLst>
</file>

<file path=ppt/tags/tag67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68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69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70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71.xml><?xml version="1.0" encoding="utf-8"?>
<p:tagLst xmlns:p="http://schemas.openxmlformats.org/presentationml/2006/main">
  <p:tag name="KSO_WM_SLIDE_TYPE" val="text"/>
  <p:tag name="KSO_WM_BEAUTIFY_FLAG" val="#wm#"/>
  <p:tag name="KSO_WM_SLIDE_ID" val="custom4049891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40498919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LIDE_THEME_ID" val="3432564"/>
  <p:tag name="KSO_WM_SLIDE_THEME_NAME" val="AI行业演讲通用主题模板"/>
</p:tagLst>
</file>

<file path=ppt/tags/tag72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73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74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7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76.xml><?xml version="1.0" encoding="utf-8"?>
<p:tagLst xmlns:p="http://schemas.openxmlformats.org/presentationml/2006/main">
  <p:tag name="KSO_WM_SLIDE_TYPE" val="text"/>
  <p:tag name="KSO_WM_BEAUTIFY_FLAG" val="#wm#"/>
  <p:tag name="KSO_WM_SLIDE_ID" val="custom4049891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40498919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7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78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79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80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81.xml><?xml version="1.0" encoding="utf-8"?>
<p:tagLst xmlns:p="http://schemas.openxmlformats.org/presentationml/2006/main">
  <p:tag name="KSO_WM_SLIDE_TYPE" val="text"/>
  <p:tag name="KSO_WM_BEAUTIFY_FLAG" val="#wm#"/>
  <p:tag name="KSO_WM_SLIDE_ID" val="custom4049891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40498919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83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84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8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7.xml><?xml version="1.0" encoding="utf-8"?>
<p:tagLst xmlns:p="http://schemas.openxmlformats.org/presentationml/2006/main">
  <p:tag name="KSO_WM_SLIDE_TYPE" val="text"/>
  <p:tag name="KSO_WM_BEAUTIFY_FLAG" val="#wm#"/>
  <p:tag name="KSO_WM_SLIDE_ID" val="custom4049891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40498919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88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89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90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9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92.xml><?xml version="1.0" encoding="utf-8"?>
<p:tagLst xmlns:p="http://schemas.openxmlformats.org/presentationml/2006/main">
  <p:tag name="KSO_WM_SLIDE_TYPE" val="text"/>
  <p:tag name="KSO_WM_BEAUTIFY_FLAG" val="#wm#"/>
  <p:tag name="KSO_WM_SLIDE_ID" val="custom4049891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40498919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I行业演讲通用主题模板">
  <a:themeElements>
    <a:clrScheme name="自定义 174">
      <a:dk1>
        <a:srgbClr val="000000"/>
      </a:dk1>
      <a:lt1>
        <a:srgbClr val="FFFFFF"/>
      </a:lt1>
      <a:dk2>
        <a:srgbClr val="002060"/>
      </a:dk2>
      <a:lt2>
        <a:srgbClr val="ECF4FF"/>
      </a:lt2>
      <a:accent1>
        <a:srgbClr val="376FFF"/>
      </a:accent1>
      <a:accent2>
        <a:srgbClr val="05A7EB"/>
      </a:accent2>
      <a:accent3>
        <a:srgbClr val="4956F9"/>
      </a:accent3>
      <a:accent4>
        <a:srgbClr val="06D5FA"/>
      </a:accent4>
      <a:accent5>
        <a:srgbClr val="6B63FF"/>
      </a:accent5>
      <a:accent6>
        <a:srgbClr val="A95BF2"/>
      </a:accent6>
      <a:hlink>
        <a:srgbClr val="0563C1"/>
      </a:hlink>
      <a:folHlink>
        <a:srgbClr val="954F72"/>
      </a:folHlink>
    </a:clrScheme>
    <a:fontScheme name="自定义 45">
      <a:majorFont>
        <a:latin typeface="Arial"/>
        <a:ea typeface="汉仪雅酷黑 65W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1813</Words>
  <Application>WPS 演示</Application>
  <PresentationFormat/>
  <Paragraphs>79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宋体</vt:lpstr>
      <vt:lpstr>Wingdings</vt:lpstr>
      <vt:lpstr>Arial</vt:lpstr>
      <vt:lpstr>Courier</vt:lpstr>
      <vt:lpstr>Courier New</vt:lpstr>
      <vt:lpstr>Calibri</vt:lpstr>
      <vt:lpstr>微软雅黑</vt:lpstr>
      <vt:lpstr>Arial Unicode MS</vt:lpstr>
      <vt:lpstr>Courier</vt:lpstr>
      <vt:lpstr>Wingdings</vt:lpstr>
      <vt:lpstr>汉仪雅酷黑 65W</vt:lpstr>
      <vt:lpstr>黑体</vt:lpstr>
      <vt:lpstr>Office Theme</vt:lpstr>
      <vt:lpstr>AI行业演讲通用主题模板</vt:lpstr>
      <vt:lpstr>OpenBridge：面向 OpenList 的下载与挂载控制台</vt:lpstr>
      <vt:lpstr>功能概览：按角色看系统能做什么</vt:lpstr>
      <vt:lpstr>技术栈与系统架构</vt:lpstr>
      <vt:lpstr>亮点与技术难点</vt:lpstr>
      <vt:lpstr>软件规模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OpenBridge：面向 OpenList 的下载与挂载控制台</dc:title>
  <dc:creator/>
  <cp:lastModifiedBy>Threadripper</cp:lastModifiedBy>
  <cp:revision>3</cp:revision>
  <dcterms:created xsi:type="dcterms:W3CDTF">2026-06-08T14:54:27Z</dcterms:created>
  <dcterms:modified xsi:type="dcterms:W3CDTF">2026-06-08T14:56:29Z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9291B6AE1C0D406AA6C6E182A901A2A9_12</vt:lpwstr>
  </property>
  <property fmtid="{D5CDD505-2E9C-101B-9397-08002B2CF9AE}" pid="3" name="KSOProductBuildVer">
    <vt:lpwstr>2052-12.1.0.26895</vt:lpwstr>
  </property>
</Properties>
</file>